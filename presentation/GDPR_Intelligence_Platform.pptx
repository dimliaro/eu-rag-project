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GDPR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80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F"/>
                </a:solidFill>
              </a:rPr>
              <a:t>AI-Powered Legal Document Retrieval 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Retrieval-Augmented Generation · Azure · Databricks · GDPR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Team 6  |  Accenture 2026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7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uckeberg_eu_cou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65760"/>
            <a:ext cx="5669280" cy="5943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731520"/>
            <a:ext cx="5212080" cy="64008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€1,200,000,000 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1">
                <a:solidFill>
                  <a:srgbClr val="FFFFFF"/>
                </a:solidFill>
              </a:rPr>
              <a:t>"He got it wrong."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060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Meta was fined €1.2B by the Irish DPC in 2023 — the largest GDPR
penalty ever issued. The violation? Transferring EU user data to US servers
without adequate safeguards.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3891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GDPR compliance is not optional. It is existential.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0749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Our platform makes regulatory intelligence instant and auditable.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ABOUT 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Who We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2560320" cy="347472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256032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FF"/>
                </a:solidFill>
              </a:rPr>
              <a:t>Team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Accenture Data &amp; AI Practice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2560320" cy="347472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2560320" cy="7315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91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76"/>
                </a:solidFill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3317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Regulatory Intelligence &amp; Compliance Tech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2560320" cy="347472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63040"/>
            <a:ext cx="256032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91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317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Built during the Accenture 2026 AI Bootcamp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463040"/>
            <a:ext cx="2560320" cy="347472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463040"/>
            <a:ext cx="256032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691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3317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Reduce compliance risk through AI-powered document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Compliance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5349240" cy="1828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73152" cy="182880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99 Articles + 173 Recitals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GDPR alone is 88 pages of dense legal text. Add NIS2, DORA, AI Act...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5349240" cy="1828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73152" cy="182880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Manual Search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94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Legal teams spend hours searching documents for a single clause reference.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57600"/>
            <a:ext cx="5349240" cy="1828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657600"/>
            <a:ext cx="73152" cy="182880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Fines Are Escalating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Over €4.5B in GDPR fines issued since 2018. Ignorance is no defence.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5349240" cy="1828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73152" cy="182880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No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434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When regulators ask how you interpreted an article, you need to show your 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GDPR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Ask any GDPR question in plain English. Get a grounded, source-cited answer in 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57400"/>
            <a:ext cx="3749039" cy="16002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2057400"/>
            <a:ext cx="3749039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21992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Natural Language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1576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Type any regulatory question — no legal jargon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19" y="2057400"/>
            <a:ext cx="3749039" cy="16002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19" y="2057400"/>
            <a:ext cx="3749039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221992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76"/>
                </a:solidFill>
              </a:rPr>
              <a:t>Source-Cited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71576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Every answer links back to the exact article and page.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58" y="2057400"/>
            <a:ext cx="3749039" cy="16002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58" y="2057400"/>
            <a:ext cx="3749039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38" y="2221992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Enterprise-Grade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38" y="271576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Azure AI Search + Databricks Vector Search at scale.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749040"/>
            <a:ext cx="3749039" cy="16002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749040"/>
            <a:ext cx="3749039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913632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Full Audit Logging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40740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Every query and answer is logged to Delta Lake for compliance review.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19" y="3749040"/>
            <a:ext cx="3749039" cy="16002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19" y="3749040"/>
            <a:ext cx="3749039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1999" y="3913632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Multi-Format Ingestion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440740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PDF, DOCX, TXT, CSV, HTML — all ingested automatically.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58" y="3749040"/>
            <a:ext cx="3749039" cy="16002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58" y="3749040"/>
            <a:ext cx="3749039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38" y="3913632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76"/>
                </a:solidFill>
              </a:rPr>
              <a:t>Smart Article Chunking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38" y="440740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GDPR articles are segmented by structure, not arbitrary character counts.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Project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2930" y="1600200"/>
            <a:ext cx="1325880" cy="292608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2930" y="1600200"/>
            <a:ext cx="132588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938" y="1737360"/>
            <a:ext cx="1197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938" y="2240280"/>
            <a:ext cx="11978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EUR-Lex
Official PDFs
Databricks Volume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08810" y="2990088"/>
            <a:ext cx="59436" cy="14630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68246" y="1600200"/>
            <a:ext cx="1325880" cy="292608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68246" y="1600200"/>
            <a:ext cx="132588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2254" y="1737360"/>
            <a:ext cx="1197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8FF"/>
                </a:solidFill>
              </a:rPr>
              <a:t>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2254" y="2240280"/>
            <a:ext cx="11978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Auto-Ingestion
Pipeline
(EUR-Lex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4126" y="2990088"/>
            <a:ext cx="59436" cy="14630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3562" y="1600200"/>
            <a:ext cx="1325880" cy="292608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3562" y="1600200"/>
            <a:ext cx="1325880" cy="73152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7570" y="1737360"/>
            <a:ext cx="1197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BEC5"/>
                </a:solidFill>
              </a:rPr>
              <a:t>BRONZE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7570" y="2240280"/>
            <a:ext cx="11978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Delta Table
Raw Chunks
Metadata preserved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79442" y="2990088"/>
            <a:ext cx="59436" cy="14630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38878" y="1600200"/>
            <a:ext cx="1325880" cy="292608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38878" y="1600200"/>
            <a:ext cx="1325880" cy="73152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2886" y="1737360"/>
            <a:ext cx="1197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BEC5"/>
                </a:solidFill>
              </a:rPr>
              <a:t>SILVER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2886" y="2240280"/>
            <a:ext cx="11978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Delta Table
Enriched +
Embedded chunks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4758" y="2990088"/>
            <a:ext cx="59436" cy="14630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4194" y="1600200"/>
            <a:ext cx="1325880" cy="292608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4194" y="1600200"/>
            <a:ext cx="1325880" cy="73152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8202" y="1737360"/>
            <a:ext cx="1197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0BEC5"/>
                </a:solidFill>
              </a:rPr>
              <a:t>GOLD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8202" y="2240280"/>
            <a:ext cx="11978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Delta Table
Index-ready
records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0074" y="2990088"/>
            <a:ext cx="59436" cy="14630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09510" y="1600200"/>
            <a:ext cx="1325880" cy="292608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09510" y="1600200"/>
            <a:ext cx="1325880" cy="7315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3518" y="1737360"/>
            <a:ext cx="1197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6"/>
                </a:solidFill>
              </a:rPr>
              <a:t>VECTOR 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73518" y="2240280"/>
            <a:ext cx="11978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Databricks
Vector Search
Index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35390" y="2990088"/>
            <a:ext cx="59436" cy="14630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94826" y="1600200"/>
            <a:ext cx="1325880" cy="292608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94826" y="1600200"/>
            <a:ext cx="132588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58834" y="1737360"/>
            <a:ext cx="1197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8FF"/>
                </a:solidFill>
              </a:rPr>
              <a:t>RAG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58834" y="2240280"/>
            <a:ext cx="11978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FastAPI
/query
/query-databricks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0706" y="2990088"/>
            <a:ext cx="59436" cy="14630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80142" y="1600200"/>
            <a:ext cx="1325880" cy="292608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80142" y="1600200"/>
            <a:ext cx="132588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44150" y="1737360"/>
            <a:ext cx="1197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35"/>
                </a:solidFill>
              </a:rPr>
              <a:t>FRONTEND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44150" y="2240280"/>
            <a:ext cx="11978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C5"/>
                </a:solidFill>
              </a:rPr>
              <a:t>Browser UI
Audit Logs
Delta Lake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029200"/>
            <a:ext cx="5029200" cy="777240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0749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8FF"/>
                </a:solidFill>
              </a:rPr>
              <a:t>Local / Azure path:  Azure AI Search Index  →  FastAPI /query  (parallel retrieval backend)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2788920" cy="4114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278892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67335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AI &amp;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8600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• Azure OpenAI — GPT-4 for answer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315468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• Azure OpenAI Embeddings — text-embedding-3-large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402336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• SentenceTransformers — local fallback (all-MiniLM-L6-v2)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508760"/>
            <a:ext cx="2788920" cy="4114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508760"/>
            <a:ext cx="2788920" cy="7315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67335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76"/>
                </a:solidFill>
              </a:rPr>
              <a:t>Storage &amp;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28600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• Azure AI Search — primary vector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315468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• Databricks Vector Search — enterprise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402336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• ChromaDB — local development fallback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508760"/>
            <a:ext cx="2788920" cy="4114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508760"/>
            <a:ext cx="278892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67335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Data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28600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• Databricks Unity Catalog — governance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15468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• Delta Lake — Bronze / Silver / Gold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02336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• Apache Spark — distributed ingestion jobs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1508760"/>
            <a:ext cx="2788920" cy="4114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0" y="1508760"/>
            <a:ext cx="278892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91472" y="167335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228600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• FastAPI — REST API (Python)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315468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• Docker — containerised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472" y="402336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• EUR-Lex API — automated regulatory ingestion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Query Flow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554480"/>
            <a:ext cx="1783080" cy="32004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336" y="1554480"/>
            <a:ext cx="178308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3836" y="1737360"/>
            <a:ext cx="64008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2606040"/>
            <a:ext cx="1600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User asks a
natural-language
GDPR 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85416" y="3090672"/>
            <a:ext cx="137160" cy="12801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22576" y="1554480"/>
            <a:ext cx="1783080" cy="32004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22576" y="1554480"/>
            <a:ext cx="178308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94076" y="1737360"/>
            <a:ext cx="64008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4076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4016" y="2606040"/>
            <a:ext cx="1600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Question is
embedded into
a vector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05656" y="3090672"/>
            <a:ext cx="137160" cy="12801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2816" y="1554480"/>
            <a:ext cx="1783080" cy="32004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42816" y="1554480"/>
            <a:ext cx="1783080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14316" y="1737360"/>
            <a:ext cx="640080" cy="64008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4316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2606040"/>
            <a:ext cx="1600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Vector Search
finds top-5
relevant chunks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25896" y="3090672"/>
            <a:ext cx="137160" cy="12801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3056" y="1554480"/>
            <a:ext cx="1783080" cy="32004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3056" y="1554480"/>
            <a:ext cx="17830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34556" y="1737360"/>
            <a:ext cx="640080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4556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2606040"/>
            <a:ext cx="1600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Chunks are
formatted as
LLM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46136" y="3090672"/>
            <a:ext cx="137160" cy="12801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83296" y="1554480"/>
            <a:ext cx="1783080" cy="32004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1554480"/>
            <a:ext cx="178308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54796" y="1737360"/>
            <a:ext cx="64008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4796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2606040"/>
            <a:ext cx="1600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Azure OpenAI
generates a
grounded answer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66376" y="3090672"/>
            <a:ext cx="137160" cy="12801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03536" y="1554480"/>
            <a:ext cx="1783080" cy="32004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03536" y="1554480"/>
            <a:ext cx="1783080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575036" y="1737360"/>
            <a:ext cx="640080" cy="64008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5036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94976" y="2606040"/>
            <a:ext cx="1600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Answer + sources
returned + query
logged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Why This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2651760" cy="22860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265176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8FF"/>
                </a:solidFill>
              </a:rPr>
              <a:t>&lt; 3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Answer latency
for any GDPR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00200"/>
            <a:ext cx="2651760" cy="22860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00200"/>
            <a:ext cx="2651760" cy="54864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8745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3B3B"/>
                </a:solidFill>
              </a:rPr>
              <a:t>€4.5B+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880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Total GDPR fines issued
since 2018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00200"/>
            <a:ext cx="2651760" cy="22860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00200"/>
            <a:ext cx="2651760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E576"/>
                </a:solidFill>
              </a:rPr>
              <a:t>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880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GDPR articles indexed
and searchable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600200"/>
            <a:ext cx="2651760" cy="22860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26880" y="1600200"/>
            <a:ext cx="26517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745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6B35"/>
                </a:solidFill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880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Answers grounded
in source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06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Hours of manual legal research  →  seconds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360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Every answer is traceable to a source article and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657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Query audit log satisfies internal compliance review requirements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49554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Scales to any EU regulation: NIS2 · DORA · AI Act · ePrivacy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Feature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3657600" cy="45720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365760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627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Short-term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" y="2286000"/>
            <a:ext cx="3438144" cy="1051560"/>
          </a:xfrm>
          <a:prstGeom prst="rect">
            <a:avLst/>
          </a:prstGeom>
          <a:solidFill>
            <a:srgbClr val="1E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50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Automated EUR-Lex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Daily sync of new regulations via EUR-Lex API — zero manual uploads.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" y="3474720"/>
            <a:ext cx="3438144" cy="1051560"/>
          </a:xfrm>
          <a:prstGeom prst="rect">
            <a:avLst/>
          </a:prstGeom>
          <a:solidFill>
            <a:srgbClr val="1E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387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Multi-language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Query in Greek, German, French; answers in the user's language.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" y="4663440"/>
            <a:ext cx="3438144" cy="1051560"/>
          </a:xfrm>
          <a:prstGeom prst="rect">
            <a:avLst/>
          </a:prstGeom>
          <a:solidFill>
            <a:srgbClr val="1E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27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Evaluation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Automated retrieval quality scoring (precision@k, MRR) in the UI.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1463040"/>
            <a:ext cx="3657600" cy="45720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0248" y="1463040"/>
            <a:ext cx="3657600" cy="7315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627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76"/>
                </a:solidFill>
              </a:rPr>
              <a:t>Medium-term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9976" y="2286000"/>
            <a:ext cx="3438144" cy="1051560"/>
          </a:xfrm>
          <a:prstGeom prst="rect">
            <a:avLst/>
          </a:prstGeom>
          <a:solidFill>
            <a:srgbClr val="1E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2350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Multi-regulation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Extend beyond GDPR → NIS2, DORA, AI Act in a single unified index.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79976" y="3474720"/>
            <a:ext cx="3438144" cy="1051560"/>
          </a:xfrm>
          <a:prstGeom prst="rect">
            <a:avLst/>
          </a:prstGeom>
          <a:solidFill>
            <a:srgbClr val="1E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35387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Fine-tracker feed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3931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Live feed of GDPR enforcement decisions; link chunks to real cases.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9976" y="4663440"/>
            <a:ext cx="3438144" cy="1051560"/>
          </a:xfrm>
          <a:prstGeom prst="rect">
            <a:avLst/>
          </a:prstGeom>
          <a:solidFill>
            <a:srgbClr val="1E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4727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Role-based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5120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Per-team document permissions via Databricks Unity Catalog groups.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29016" y="1463040"/>
            <a:ext cx="3657600" cy="45720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29016" y="1463040"/>
            <a:ext cx="36576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3608" y="1627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Long-term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38744" y="2286000"/>
            <a:ext cx="3438144" cy="1051560"/>
          </a:xfrm>
          <a:prstGeom prst="rect">
            <a:avLst/>
          </a:prstGeom>
          <a:solidFill>
            <a:srgbClr val="1E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2350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Compliance gap analyser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Upload a policy document; the system highlights GDPR conflicts.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38744" y="3474720"/>
            <a:ext cx="3438144" cy="1051560"/>
          </a:xfrm>
          <a:prstGeom prst="rect">
            <a:avLst/>
          </a:prstGeom>
          <a:solidFill>
            <a:srgbClr val="1E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57616" y="35387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Agent-based regulatory assistant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7616" y="3931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Multi-step reasoning over cross-regulation questions.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38744" y="4663440"/>
            <a:ext cx="3438144" cy="1051560"/>
          </a:xfrm>
          <a:prstGeom prst="rect">
            <a:avLst/>
          </a:prstGeom>
          <a:solidFill>
            <a:srgbClr val="1E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57616" y="4727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On-prem / air-gapped 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7616" y="5120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Run entirely within enterprise perimeter with local models.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See It In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11338560" cy="429768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11338560" cy="32004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C5"/>
                </a:solidFill>
              </a:rPr>
              <a:t>  POST  /query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0972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// Request</a:t>
            </a:r>
          </a:p>
          <a:p>
            <a:pPr algn="l"/>
            <a:r>
              <a:rPr sz="1100" b="0">
                <a:solidFill>
                  <a:srgbClr val="00C8FF"/>
                </a:solidFill>
              </a:rPr>
              <a:t>{ "question": "What are the rights of data subjects under GDPR?" }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B0BEC5"/>
                </a:solidFill>
              </a:rPr>
              <a:t>// Response  200 OK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{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  "answer": "Under GDPR, data subjects have: the right to access (Art.15),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             the right to erasure (Art.17), the right to portability (Art.20)...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             Sources: 32016R0679_EN (pages 42, 44, 47)",</a:t>
            </a:r>
          </a:p>
          <a:p>
            <a:pPr algn="l"/>
            <a:r>
              <a:rPr sz="1100" b="0">
                <a:solidFill>
                  <a:srgbClr val="00E576"/>
                </a:solidFill>
              </a:rPr>
              <a:t>  "retrieved_chunks": [ { "chunk_id": "a3f9...", "distance": 0.187, ... } ]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897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C5"/>
                </a:solidFill>
              </a:rPr>
              <a:t>Interactive docs:  http://127.0.0.1:8080/docs  |  Frontend UI:  GET 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64592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06324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8FF"/>
                </a:solidFill>
              </a:rPr>
              <a:t>GDPR Intelligence Platform  ·  Team 6  ·  Accenture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0BEC5"/>
                </a:solidFill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7474F"/>
                </a:solidFill>
              </a:rPr>
              <a:t>GitHub  ·  FastAPI /docs  ·  Databricks Unity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