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74" r:id="rId3"/>
    <p:sldId id="258" r:id="rId4"/>
    <p:sldId id="259" r:id="rId5"/>
    <p:sldId id="261" r:id="rId6"/>
    <p:sldId id="262" r:id="rId7"/>
    <p:sldId id="276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5B8-43DE-8221-66B49105D0B9}"/>
              </c:ext>
            </c:extLst>
          </c:dPt>
          <c:dPt>
            <c:idx val="1"/>
            <c:bubble3D val="0"/>
            <c:spPr>
              <a:solidFill>
                <a:srgbClr val="D0D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B8-43DE-8221-66B49105D0B9}"/>
              </c:ext>
            </c:extLst>
          </c:dPt>
          <c:cat>
            <c:strRef>
              <c:f>Sheet1!$A$2:$A$3</c:f>
              <c:strCache>
                <c:ptCount val="2"/>
                <c:pt idx="0">
                  <c:v>Passed Cases</c:v>
                </c:pt>
                <c:pt idx="1">
                  <c:v>Failed Cases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B8-43DE-8221-66B49105D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28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Code.Hub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GTGH | AI Knowledge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with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7315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28016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27432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EU Financial Institutions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3474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474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950208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950208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3950208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98448" y="996696"/>
            <a:ext cx="694944" cy="69494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10642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9476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Dimitris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441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Databricks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843784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Bronze/Silver/Gold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 pipelines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&amp; Unity Catalog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868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868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78808" y="996696"/>
            <a:ext cx="694944" cy="69494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106424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9476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Nontas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3429000" y="24414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429000" y="2441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RAG &amp; Vector Search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83280" y="2843784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embeddings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(hybrid)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pipelines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0760" y="8686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80760" y="868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059168" y="996696"/>
            <a:ext cx="694944" cy="69494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106424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90488" y="19476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Panagiotis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309360" y="24414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309360" y="2441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DevOps &amp; Governance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63640" y="2843784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REST endpoints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Docker · GitHub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controls &amp;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growing challenges managing large volumes of structured and unstructured enterprise knowledge across documents, databases, APIs, and cloud systems.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keyword-based search and manually maintained knowledge repositories are insufficient for modern AI-driven decision-making, semantic retrieval, and intelligent automation.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2918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09928" y="32918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09928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08376" y="32918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08376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09928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09928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08376" y="37490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08376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 must search vast regulatory documents manually
</a:t>
            </a: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misses context and semantic relationships
</a:t>
            </a: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analysis is slow and error-prone
</a:t>
            </a: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 increases without real-time, intelligent access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&amp; Solution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0D2B5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an AI-powered Regulatory Compliance Assistant enabling EU financial institutions to ingest, govern, semantically search, and analyze regulatory documentation using RAG, vector search, and enterprise AI orchestration — improving compliance efficiency and reducing regulatory risk.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871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944368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natural language queries across EU regulatory corpus with citation-based answers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64408" y="23774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48716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PII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01568" y="2944368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detection, source traceability, lineage tracking, and responsible AI controls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4496" y="23774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24871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48856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Monitoring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91656" y="2944368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RAG evaluation, hallucination detection, and quality monitoring dashboards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End-to-End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86384"/>
            <a:ext cx="1389888" cy="420624"/>
          </a:xfrm>
          <a:prstGeom prst="roundRect">
            <a:avLst>
              <a:gd name="adj" fmla="val 1521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3210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41248"/>
            <a:ext cx="786384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" y="996696"/>
            <a:ext cx="786384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DB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37360" y="786384"/>
            <a:ext cx="1389888" cy="420624"/>
          </a:xfrm>
          <a:prstGeom prst="roundRect">
            <a:avLst>
              <a:gd name="adj" fmla="val 1521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88" y="83210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49424" y="841248"/>
            <a:ext cx="786384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49424" y="996696"/>
            <a:ext cx="786384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Auth.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18688" y="786384"/>
            <a:ext cx="1389888" cy="420624"/>
          </a:xfrm>
          <a:prstGeom prst="roundRect">
            <a:avLst>
              <a:gd name="adj" fmla="val 1521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8321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30752" y="841248"/>
            <a:ext cx="786384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730752" y="996696"/>
            <a:ext cx="786384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00016" y="786384"/>
            <a:ext cx="1389888" cy="420624"/>
          </a:xfrm>
          <a:prstGeom prst="roundRect">
            <a:avLst>
              <a:gd name="adj" fmla="val 1521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83210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841248"/>
            <a:ext cx="786384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212080" y="996696"/>
            <a:ext cx="786384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Auth.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181344" y="786384"/>
            <a:ext cx="1389888" cy="420624"/>
          </a:xfrm>
          <a:prstGeom prst="roundRect">
            <a:avLst>
              <a:gd name="adj" fmla="val 15217"/>
            </a:avLst>
          </a:prstGeom>
          <a:solidFill>
            <a:srgbClr val="0D2B5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83210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93408" y="841248"/>
            <a:ext cx="786384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Comm.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693408" y="996696"/>
            <a:ext cx="786384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256032" y="731520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regulatory sources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950976" y="1207008"/>
            <a:ext cx="0" cy="164592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2432304" y="1207008"/>
            <a:ext cx="0" cy="164592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3913632" y="1207008"/>
            <a:ext cx="0" cy="164592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5394960" y="1207008"/>
            <a:ext cx="0" cy="164592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876288" y="1207008"/>
            <a:ext cx="0" cy="164592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56032" y="1371600"/>
            <a:ext cx="8631936" cy="429768"/>
          </a:xfrm>
          <a:prstGeom prst="roundRect">
            <a:avLst>
              <a:gd name="adj" fmla="val 14894"/>
            </a:avLst>
          </a:prstGeom>
          <a:solidFill>
            <a:srgbClr val="165A9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2189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8096" y="1426464"/>
            <a:ext cx="8028432" cy="20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68096" y="1586484"/>
            <a:ext cx="8028432" cy="18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pipelines · pagination · retry logic · incremental updates · document download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72000" y="1801368"/>
            <a:ext cx="0" cy="82296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256032" y="1883664"/>
            <a:ext cx="8631936" cy="429768"/>
          </a:xfrm>
          <a:prstGeom prst="roundRect">
            <a:avLst>
              <a:gd name="adj" fmla="val 14894"/>
            </a:avLst>
          </a:prstGeom>
          <a:solidFill>
            <a:srgbClr val="1A4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933956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68096" y="1938528"/>
            <a:ext cx="8028432" cy="20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Databricks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768096" y="2098548"/>
            <a:ext cx="8028432" cy="18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Bronze/Silver/Gold · PySpark ETL · Unity Catalog · ADLS · orchestration workflows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4572000" y="2313432"/>
            <a:ext cx="0" cy="82296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256032" y="2395728"/>
            <a:ext cx="8631936" cy="429768"/>
          </a:xfrm>
          <a:prstGeom prst="roundRect">
            <a:avLst>
              <a:gd name="adj" fmla="val 14894"/>
            </a:avLst>
          </a:prstGeom>
          <a:solidFill>
            <a:srgbClr val="1269B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446020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68096" y="2450592"/>
            <a:ext cx="8028432" cy="20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768096" y="2610612"/>
            <a:ext cx="8028432" cy="18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PDF/DOCX/HTML/XML parsing · chunking · metadata enrichment · deduplication · lineage tracking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4572000" y="2825496"/>
            <a:ext cx="0" cy="82296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256032" y="2907792"/>
            <a:ext cx="8631936" cy="429768"/>
          </a:xfrm>
          <a:prstGeom prst="roundRect">
            <a:avLst>
              <a:gd name="adj" fmla="val 14894"/>
            </a:avLst>
          </a:prstGeom>
          <a:solidFill>
            <a:srgbClr val="534AB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958084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68096" y="2962656"/>
            <a:ext cx="8028432" cy="20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— embeddings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768096" y="3122676"/>
            <a:ext cx="8028432" cy="18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batch embedding pipelines · versioning · structured outputs · function calling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4572000" y="3337560"/>
            <a:ext cx="0" cy="82296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9"/>
          <p:cNvSpPr/>
          <p:nvPr/>
        </p:nvSpPr>
        <p:spPr>
          <a:xfrm>
            <a:off x="256032" y="3419856"/>
            <a:ext cx="8631936" cy="429768"/>
          </a:xfrm>
          <a:prstGeom prst="roundRect">
            <a:avLst>
              <a:gd name="adj" fmla="val 14894"/>
            </a:avLst>
          </a:prstGeom>
          <a:solidFill>
            <a:srgbClr val="3C348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3470148"/>
            <a:ext cx="329184" cy="329184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68096" y="3474720"/>
            <a:ext cx="8028432" cy="20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RAG engine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768096" y="3634740"/>
            <a:ext cx="8028432" cy="18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· vector (HNSW) · hybrid BM25+cosine · LangGraph · citation grounding · hallucination detection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4572000" y="3849624"/>
            <a:ext cx="0" cy="82296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3"/>
          <p:cNvSpPr/>
          <p:nvPr/>
        </p:nvSpPr>
        <p:spPr>
          <a:xfrm>
            <a:off x="256032" y="3931920"/>
            <a:ext cx="8631936" cy="429768"/>
          </a:xfrm>
          <a:prstGeom prst="roundRect">
            <a:avLst>
              <a:gd name="adj" fmla="val 14894"/>
            </a:avLst>
          </a:prstGeom>
          <a:solidFill>
            <a:srgbClr val="993C1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982212"/>
            <a:ext cx="329184" cy="329184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768096" y="3986784"/>
            <a:ext cx="8028432" cy="20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application layer — FastAPI</a:t>
            </a:r>
            <a:endParaRPr lang="en-US" sz="1100" dirty="0"/>
          </a:p>
        </p:txBody>
      </p:sp>
      <p:sp>
        <p:nvSpPr>
          <p:cNvPr id="58" name="Text 45"/>
          <p:cNvSpPr/>
          <p:nvPr/>
        </p:nvSpPr>
        <p:spPr>
          <a:xfrm>
            <a:off x="768096" y="4146804"/>
            <a:ext cx="8028432" cy="18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· JWT / OAuth2 · Swagger / OpenAPI · request validation · Azure Key Vault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256032" y="4443984"/>
            <a:ext cx="4242816" cy="548640"/>
          </a:xfrm>
          <a:prstGeom prst="roundRect">
            <a:avLst>
              <a:gd name="adj" fmla="val 1166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553712"/>
            <a:ext cx="329184" cy="329184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768096" y="4498848"/>
            <a:ext cx="363931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100" dirty="0"/>
          </a:p>
        </p:txBody>
      </p:sp>
      <p:sp>
        <p:nvSpPr>
          <p:cNvPr id="62" name="Text 48"/>
          <p:cNvSpPr/>
          <p:nvPr/>
        </p:nvSpPr>
        <p:spPr>
          <a:xfrm>
            <a:off x="768096" y="4718304"/>
            <a:ext cx="363931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· lineage · responsible AI · RBAC</a:t>
            </a:r>
            <a:endParaRPr lang="en-US" sz="900" dirty="0"/>
          </a:p>
        </p:txBody>
      </p:sp>
      <p:sp>
        <p:nvSpPr>
          <p:cNvPr id="63" name="Shape 49"/>
          <p:cNvSpPr/>
          <p:nvPr/>
        </p:nvSpPr>
        <p:spPr>
          <a:xfrm>
            <a:off x="4645152" y="4443984"/>
            <a:ext cx="4242816" cy="548640"/>
          </a:xfrm>
          <a:prstGeom prst="roundRect">
            <a:avLst>
              <a:gd name="adj" fmla="val 1166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4553712"/>
            <a:ext cx="329184" cy="329184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5157216" y="4498848"/>
            <a:ext cx="363931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monitoring</a:t>
            </a:r>
            <a:endParaRPr lang="en-US" sz="1100" dirty="0"/>
          </a:p>
        </p:txBody>
      </p:sp>
      <p:sp>
        <p:nvSpPr>
          <p:cNvPr id="66" name="Text 51"/>
          <p:cNvSpPr/>
          <p:nvPr/>
        </p:nvSpPr>
        <p:spPr>
          <a:xfrm>
            <a:off x="5157216" y="4718304"/>
            <a:ext cx="363931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Docker · CI/CD · eval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 — 10 Implementation Areas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20700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 &amp; Dev Env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38528" y="82296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38528" y="8229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38528" y="8229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20700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94176" y="82296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94176" y="8229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94176" y="8229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67328" y="120700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 Layer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49824" y="82296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9824" y="8229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9824" y="8229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22976" y="120700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05472" y="82296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5472" y="8229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8229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78624" y="120700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&amp; Data Eng.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82880" y="246888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246888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24688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" y="285292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Doc Processing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938528" y="246888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38528" y="246888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38528" y="24688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285292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PII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94176" y="246888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94176" y="246888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94176" y="24688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67328" y="285292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AI Integration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49824" y="246888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49824" y="246888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49824" y="24688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22976" y="285292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&amp; RAG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205472" y="2468880"/>
            <a:ext cx="1664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05472" y="246888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05472" y="24688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78624" y="2852928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Monitoring</a:t>
            </a:r>
            <a:endParaRPr lang="en-US" sz="11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C952C-3EC3-B9DF-50CA-F4CAA927534C}"/>
              </a:ext>
            </a:extLst>
          </p:cNvPr>
          <p:cNvSpPr/>
          <p:nvPr/>
        </p:nvSpPr>
        <p:spPr>
          <a:xfrm>
            <a:off x="6439989" y="251459"/>
            <a:ext cx="2475411" cy="3853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r>
              <a:rPr lang="el-GR" dirty="0">
                <a:solidFill>
                  <a:schemeClr val="tx1"/>
                </a:solidFill>
              </a:rPr>
              <a:t>Δεν το χρειαζόμαστε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595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Data Platform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225296"/>
            <a:ext cx="3886200" cy="1234440"/>
          </a:xfrm>
          <a:prstGeom prst="rect">
            <a:avLst/>
          </a:prstGeom>
          <a:noFill/>
          <a:ln/>
        </p:spPr>
        <p:txBody>
          <a:bodyPr wrap="square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/ Unity Catalog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0" y="804672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804672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1A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595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Orchestration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09160" y="1225296"/>
            <a:ext cx="3886200" cy="1234440"/>
          </a:xfrm>
          <a:prstGeom prst="rect">
            <a:avLst/>
          </a:prstGeom>
          <a:noFill/>
          <a:ln/>
        </p:spPr>
        <p:txBody>
          <a:bodyPr wrap="square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100" dirty="0">
              <a:solidFill>
                <a:srgbClr val="FF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8600" y="2679192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28600" y="2679192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7340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DevOps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65760" y="3099816"/>
            <a:ext cx="3886200" cy="1234440"/>
          </a:xfrm>
          <a:prstGeom prst="rect">
            <a:avLst/>
          </a:prstGeom>
          <a:noFill/>
          <a:ln/>
        </p:spPr>
        <p:txBody>
          <a:bodyPr wrap="square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572000" y="2679192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72000" y="2679192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123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73405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834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Documents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09160" y="3099816"/>
            <a:ext cx="3886200" cy="1234440"/>
          </a:xfrm>
          <a:prstGeom prst="rect">
            <a:avLst/>
          </a:prstGeom>
          <a:noFill/>
          <a:ln/>
        </p:spPr>
        <p:txBody>
          <a:bodyPr wrap="square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 / ECB APIs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HTML parsing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enrichment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EU Regulatory Documentation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Banking Authority (EBA)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Securities &amp; Markets Authority (ESMA)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Central Bank (ECB)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 EU Legal Database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· PSD2 · MiFID II · AMLD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CRR/CRD · AI 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023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Digital Finance · Risk Mgmt · Data Protection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29184" cy="32918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1353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HTML / JSON parsing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56816"/>
            <a:ext cx="329184" cy="32918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&amp; fixed-size strategies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542032"/>
            <a:ext cx="329184" cy="32918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Enrichment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authority, date, category, domain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127248"/>
            <a:ext cx="329184" cy="32918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lineage &amp; provenance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712464"/>
            <a:ext cx="329184" cy="329184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950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embeddings → Delta Lake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— End-to-End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08760" y="1691640"/>
            <a:ext cx="201168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09928" y="11887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09928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44368" y="1691640"/>
            <a:ext cx="201168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45536" y="11887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65A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45536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1691640"/>
            <a:ext cx="201168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81144" y="11887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269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81144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15584" y="1691640"/>
            <a:ext cx="201168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16752" y="11887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0D7A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16752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51192" y="1691640"/>
            <a:ext cx="201168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52360" y="11887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5236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09928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45536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81144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16752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743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321868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retrieval using cosine distance on Azure AI Search index with HNSW algorithm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64408" y="2743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1568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01568" y="321868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BM25 keyword ranking with vector similarity for maximum recall across regulatory content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54496" y="2743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91656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91656" y="321868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multi-step AI workflows with conditional routing, retry logic, and citation extraction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Infrastructure &amp; CI/CD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923544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896112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CI/CD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6616" y="133502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 strategy (feature / develop / main)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&amp; code review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automated pipelines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integration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804672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923544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02352" y="896112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00016" y="133502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for all services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multi-service environments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development &amp; production setups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isolation with uv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28600" y="2816352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293522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" y="2907792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Security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356616" y="334670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for secrets management</a:t>
            </a:r>
            <a:endParaRPr lang="en-US" sz="1100" dirty="0">
              <a:solidFill>
                <a:srgbClr val="FF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OAuth2 authentication</a:t>
            </a:r>
            <a:endParaRPr lang="en-US" sz="1100" dirty="0">
              <a:solidFill>
                <a:srgbClr val="FF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typing with </a:t>
            </a:r>
            <a:r>
              <a:rPr lang="en-US" sz="11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</a:t>
            </a:r>
            <a:endParaRPr lang="en-US" sz="1100" dirty="0">
              <a:solidFill>
                <a:srgbClr val="FF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separation (dev / staging / prod)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572000" y="2816352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293522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02352" y="2907792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Quality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00016" y="334670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datasets &amp; pipelines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mechanisms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assessment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dashboards &amp; reporting metrics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PII &amp; Compliance Controls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326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Redaction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1316736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PII scanning and redaction on ingested regulatory documents before indexing and embedding generation.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36392" y="80467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A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9326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8456" y="8961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Metadata Models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64408" y="1316736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metadata schema capturing regulation title, authority, publication date, category, version, and compliance domain.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16752" y="80467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93268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28816" y="8961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Traceability &amp; Lineage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44768" y="1316736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document lineage tracking from source acquisition through chunking, embedding, and retrieval to final AI response.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56032" y="2478024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23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60604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" y="256946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Controls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84048" y="29900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Citation-based answers enforce grounding; hallucination detection pipelines flag uncertain responses before surfacing to users.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36392" y="2478024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65A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260604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48456" y="256946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Handling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64408" y="29900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Vault, encrypted ADLS storage, role-based access control, and JWT/OAuth2 enforced at API gateway level.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016752" y="2478024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D7A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2606040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28816" y="256946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 Logs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144768" y="29900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Delta Lake audit log capturing every ingestion event, transformation step, and user query with timestamps.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evaluation_questions.csv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1024128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097280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56032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347472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overall performance across the evaluation set.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834640" y="102412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834640" y="1298448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82696" y="1389888"/>
            <a:ext cx="475488" cy="475488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14630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89504" y="1920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HIT RATE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2889504" y="21945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3246120" y="2578608"/>
            <a:ext cx="548640" cy="36576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279392" y="1298448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27448" y="1389888"/>
            <a:ext cx="475488" cy="475488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4630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34256" y="1920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RELEVANCE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4334256" y="21945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4.574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4690872" y="2578608"/>
            <a:ext cx="548640" cy="36576"/>
          </a:xfrm>
          <a:prstGeom prst="rect">
            <a:avLst/>
          </a:prstGeom>
          <a:solidFill>
            <a:srgbClr val="4A7F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724144" y="1298448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172200" y="1389888"/>
            <a:ext cx="475488" cy="475488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146304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79008" y="1920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FAITHFULNESS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5779008" y="21945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6135624" y="2578608"/>
            <a:ext cx="548640" cy="36576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168896" y="1298448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616952" y="1389888"/>
            <a:ext cx="475488" cy="475488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0104" y="1463040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19202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CORRECTNESS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7223760" y="21945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4.426</a:t>
            </a: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7580376" y="2578608"/>
            <a:ext cx="548640" cy="36576"/>
          </a:xfrm>
          <a:prstGeom prst="rect">
            <a:avLst/>
          </a:prstGeom>
          <a:solidFill>
            <a:srgbClr val="D48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256032" y="2798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" y="310896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" y="3090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Cases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1956816" y="30906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5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57677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93776" y="3339389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1956816" y="333938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5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3606394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493776" y="358810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Hit Rate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1956816" y="358810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05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3855110"/>
            <a:ext cx="182880" cy="18288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493776" y="383682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Relevance</a:t>
            </a:r>
            <a:endParaRPr lang="en-US" sz="1050" dirty="0"/>
          </a:p>
        </p:txBody>
      </p:sp>
      <p:sp>
        <p:nvSpPr>
          <p:cNvPr id="49" name="Text 37"/>
          <p:cNvSpPr/>
          <p:nvPr/>
        </p:nvSpPr>
        <p:spPr>
          <a:xfrm>
            <a:off x="1956816" y="383682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4.574</a:t>
            </a:r>
            <a:endParaRPr lang="en-US" sz="105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4103827"/>
            <a:ext cx="182880" cy="18288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93776" y="4085539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Faithfulness</a:t>
            </a:r>
            <a:endParaRPr lang="en-US" sz="1050" dirty="0"/>
          </a:p>
        </p:txBody>
      </p:sp>
      <p:sp>
        <p:nvSpPr>
          <p:cNvPr id="52" name="Text 39"/>
          <p:cNvSpPr/>
          <p:nvPr/>
        </p:nvSpPr>
        <p:spPr>
          <a:xfrm>
            <a:off x="1956816" y="408553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05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" y="4352544"/>
            <a:ext cx="182880" cy="18288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493776" y="4334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Correctness</a:t>
            </a:r>
            <a:endParaRPr lang="en-US" sz="1050" dirty="0"/>
          </a:p>
        </p:txBody>
      </p:sp>
      <p:sp>
        <p:nvSpPr>
          <p:cNvPr id="55" name="Text 41"/>
          <p:cNvSpPr/>
          <p:nvPr/>
        </p:nvSpPr>
        <p:spPr>
          <a:xfrm>
            <a:off x="1956816" y="43342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4.426</a:t>
            </a:r>
            <a:endParaRPr lang="en-US" sz="105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" y="4601261"/>
            <a:ext cx="182880" cy="18288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493776" y="4582973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(sec)</a:t>
            </a:r>
            <a:endParaRPr lang="en-US" sz="1050" dirty="0"/>
          </a:p>
        </p:txBody>
      </p:sp>
      <p:sp>
        <p:nvSpPr>
          <p:cNvPr id="58" name="Text 43"/>
          <p:cNvSpPr/>
          <p:nvPr/>
        </p:nvSpPr>
        <p:spPr>
          <a:xfrm>
            <a:off x="1956816" y="4582973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481.26</a:t>
            </a:r>
            <a:endParaRPr lang="en-US" sz="1050" dirty="0"/>
          </a:p>
        </p:txBody>
      </p:sp>
      <p:sp>
        <p:nvSpPr>
          <p:cNvPr id="59" name="Text 44"/>
          <p:cNvSpPr/>
          <p:nvPr/>
        </p:nvSpPr>
        <p:spPr>
          <a:xfrm>
            <a:off x="283464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A GLANCE</a:t>
            </a:r>
            <a:endParaRPr lang="en-US" sz="1200" dirty="0"/>
          </a:p>
        </p:txBody>
      </p:sp>
      <p:graphicFrame>
        <p:nvGraphicFramePr>
          <p:cNvPr id="60" name="Chart 0"/>
          <p:cNvGraphicFramePr/>
          <p:nvPr/>
        </p:nvGraphicFramePr>
        <p:xfrm>
          <a:off x="2743200" y="3017520"/>
          <a:ext cx="23774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61" name="Text 45"/>
          <p:cNvSpPr/>
          <p:nvPr/>
        </p:nvSpPr>
        <p:spPr>
          <a:xfrm>
            <a:off x="2834640" y="3547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800" dirty="0"/>
          </a:p>
        </p:txBody>
      </p:sp>
      <p:sp>
        <p:nvSpPr>
          <p:cNvPr id="62" name="Text 46"/>
          <p:cNvSpPr/>
          <p:nvPr/>
        </p:nvSpPr>
        <p:spPr>
          <a:xfrm>
            <a:off x="2834640" y="38953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50" dirty="0"/>
          </a:p>
        </p:txBody>
      </p:sp>
      <p:sp>
        <p:nvSpPr>
          <p:cNvPr id="63" name="Shape 47"/>
          <p:cNvSpPr/>
          <p:nvPr/>
        </p:nvSpPr>
        <p:spPr>
          <a:xfrm>
            <a:off x="2834640" y="4645152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48"/>
          <p:cNvSpPr/>
          <p:nvPr/>
        </p:nvSpPr>
        <p:spPr>
          <a:xfrm>
            <a:off x="2926080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Strong reliability and quality across evaluated dimensions.</a:t>
            </a:r>
            <a:endParaRPr lang="en-US" sz="900" dirty="0"/>
          </a:p>
        </p:txBody>
      </p:sp>
      <p:sp>
        <p:nvSpPr>
          <p:cNvPr id="65" name="Text 49"/>
          <p:cNvSpPr/>
          <p:nvPr/>
        </p:nvSpPr>
        <p:spPr>
          <a:xfrm>
            <a:off x="6309360" y="2798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200" dirty="0"/>
          </a:p>
        </p:txBody>
      </p:sp>
      <p:sp>
        <p:nvSpPr>
          <p:cNvPr id="66" name="Shape 50"/>
          <p:cNvSpPr/>
          <p:nvPr/>
        </p:nvSpPr>
        <p:spPr>
          <a:xfrm>
            <a:off x="6949440" y="2907792"/>
            <a:ext cx="1920240" cy="36576"/>
          </a:xfrm>
          <a:prstGeom prst="rect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1"/>
          <p:cNvSpPr/>
          <p:nvPr/>
        </p:nvSpPr>
        <p:spPr>
          <a:xfrm>
            <a:off x="6309360" y="310896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EF0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18688"/>
            <a:ext cx="329184" cy="292608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6784848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Cases</a:t>
            </a:r>
            <a:endParaRPr lang="en-US" sz="1200" dirty="0"/>
          </a:p>
        </p:txBody>
      </p:sp>
      <p:sp>
        <p:nvSpPr>
          <p:cNvPr id="70" name="Text 53"/>
          <p:cNvSpPr/>
          <p:nvPr/>
        </p:nvSpPr>
        <p:spPr>
          <a:xfrm>
            <a:off x="8485632" y="31546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71" name="Text 54"/>
          <p:cNvSpPr/>
          <p:nvPr/>
        </p:nvSpPr>
        <p:spPr>
          <a:xfrm>
            <a:off x="6309360" y="3803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CASE IDs</a:t>
            </a:r>
            <a:endParaRPr lang="en-US" sz="1000" dirty="0"/>
          </a:p>
        </p:txBody>
      </p:sp>
      <p:sp>
        <p:nvSpPr>
          <p:cNvPr id="72" name="Shape 55"/>
          <p:cNvSpPr/>
          <p:nvPr/>
        </p:nvSpPr>
        <p:spPr>
          <a:xfrm>
            <a:off x="6309360" y="400507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56"/>
          <p:cNvSpPr/>
          <p:nvPr/>
        </p:nvSpPr>
        <p:spPr>
          <a:xfrm>
            <a:off x="630936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'12'</a:t>
            </a:r>
            <a:endParaRPr lang="en-US" sz="950" dirty="0"/>
          </a:p>
        </p:txBody>
      </p:sp>
      <p:sp>
        <p:nvSpPr>
          <p:cNvPr id="74" name="Shape 57"/>
          <p:cNvSpPr/>
          <p:nvPr/>
        </p:nvSpPr>
        <p:spPr>
          <a:xfrm>
            <a:off x="6949440" y="400507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58"/>
          <p:cNvSpPr/>
          <p:nvPr/>
        </p:nvSpPr>
        <p:spPr>
          <a:xfrm>
            <a:off x="694944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'15'</a:t>
            </a:r>
            <a:endParaRPr lang="en-US" sz="950" dirty="0"/>
          </a:p>
        </p:txBody>
      </p:sp>
      <p:sp>
        <p:nvSpPr>
          <p:cNvPr id="76" name="Shape 59"/>
          <p:cNvSpPr/>
          <p:nvPr/>
        </p:nvSpPr>
        <p:spPr>
          <a:xfrm>
            <a:off x="7589520" y="400507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60"/>
          <p:cNvSpPr/>
          <p:nvPr/>
        </p:nvSpPr>
        <p:spPr>
          <a:xfrm>
            <a:off x="758952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'19'</a:t>
            </a:r>
            <a:endParaRPr lang="en-US" sz="950" dirty="0"/>
          </a:p>
        </p:txBody>
      </p:sp>
      <p:sp>
        <p:nvSpPr>
          <p:cNvPr id="78" name="Shape 61"/>
          <p:cNvSpPr/>
          <p:nvPr/>
        </p:nvSpPr>
        <p:spPr>
          <a:xfrm>
            <a:off x="8229600" y="400507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62"/>
          <p:cNvSpPr/>
          <p:nvPr/>
        </p:nvSpPr>
        <p:spPr>
          <a:xfrm>
            <a:off x="822960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'37'</a:t>
            </a:r>
            <a:endParaRPr lang="en-US" sz="950" dirty="0"/>
          </a:p>
        </p:txBody>
      </p:sp>
      <p:sp>
        <p:nvSpPr>
          <p:cNvPr id="80" name="Shape 63"/>
          <p:cNvSpPr/>
          <p:nvPr/>
        </p:nvSpPr>
        <p:spPr>
          <a:xfrm>
            <a:off x="6309360" y="42793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64"/>
          <p:cNvSpPr/>
          <p:nvPr/>
        </p:nvSpPr>
        <p:spPr>
          <a:xfrm>
            <a:off x="6309360" y="42793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'38'</a:t>
            </a:r>
            <a:endParaRPr lang="en-US" sz="950" dirty="0"/>
          </a:p>
        </p:txBody>
      </p:sp>
      <p:sp>
        <p:nvSpPr>
          <p:cNvPr id="82" name="Shape 65"/>
          <p:cNvSpPr/>
          <p:nvPr/>
        </p:nvSpPr>
        <p:spPr>
          <a:xfrm>
            <a:off x="6949440" y="42793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66"/>
          <p:cNvSpPr/>
          <p:nvPr/>
        </p:nvSpPr>
        <p:spPr>
          <a:xfrm>
            <a:off x="6949440" y="42793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'40'</a:t>
            </a:r>
            <a:endParaRPr lang="en-US" sz="950" dirty="0"/>
          </a:p>
        </p:txBody>
      </p:sp>
      <p:sp>
        <p:nvSpPr>
          <p:cNvPr id="84" name="Shape 67"/>
          <p:cNvSpPr/>
          <p:nvPr/>
        </p:nvSpPr>
        <p:spPr>
          <a:xfrm>
            <a:off x="7589520" y="42793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68"/>
          <p:cNvSpPr/>
          <p:nvPr/>
        </p:nvSpPr>
        <p:spPr>
          <a:xfrm>
            <a:off x="7589520" y="42793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'43'</a:t>
            </a:r>
            <a:endParaRPr lang="en-US" sz="950" dirty="0"/>
          </a:p>
        </p:txBody>
      </p:sp>
      <p:sp>
        <p:nvSpPr>
          <p:cNvPr id="86" name="Shape 69"/>
          <p:cNvSpPr/>
          <p:nvPr/>
        </p:nvSpPr>
        <p:spPr>
          <a:xfrm>
            <a:off x="8229600" y="42793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0"/>
          <p:cNvSpPr/>
          <p:nvPr/>
        </p:nvSpPr>
        <p:spPr>
          <a:xfrm>
            <a:off x="8229600" y="42793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'48'</a:t>
            </a:r>
            <a:endParaRPr lang="en-US" sz="950" dirty="0"/>
          </a:p>
        </p:txBody>
      </p:sp>
      <p:sp>
        <p:nvSpPr>
          <p:cNvPr id="88" name="Shape 71"/>
          <p:cNvSpPr/>
          <p:nvPr/>
        </p:nvSpPr>
        <p:spPr>
          <a:xfrm>
            <a:off x="6309360" y="455371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72"/>
          <p:cNvSpPr/>
          <p:nvPr/>
        </p:nvSpPr>
        <p:spPr>
          <a:xfrm>
            <a:off x="6309360" y="45537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'50'</a:t>
            </a:r>
            <a:endParaRPr lang="en-US" sz="950" dirty="0"/>
          </a:p>
        </p:txBody>
      </p:sp>
      <p:sp>
        <p:nvSpPr>
          <p:cNvPr id="90" name="Shape 73"/>
          <p:cNvSpPr/>
          <p:nvPr/>
        </p:nvSpPr>
        <p:spPr>
          <a:xfrm>
            <a:off x="6949440" y="455371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74"/>
          <p:cNvSpPr/>
          <p:nvPr/>
        </p:nvSpPr>
        <p:spPr>
          <a:xfrm>
            <a:off x="6949440" y="45537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'51'</a:t>
            </a:r>
            <a:endParaRPr lang="en-US" sz="950" dirty="0"/>
          </a:p>
        </p:txBody>
      </p:sp>
      <p:sp>
        <p:nvSpPr>
          <p:cNvPr id="92" name="Shape 75"/>
          <p:cNvSpPr/>
          <p:nvPr/>
        </p:nvSpPr>
        <p:spPr>
          <a:xfrm>
            <a:off x="7589520" y="455371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E8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76"/>
          <p:cNvSpPr/>
          <p:nvPr/>
        </p:nvSpPr>
        <p:spPr>
          <a:xfrm>
            <a:off x="7589520" y="45537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'52'</a:t>
            </a:r>
            <a:endParaRPr lang="en-US" sz="950" dirty="0"/>
          </a:p>
        </p:txBody>
      </p:sp>
      <p:sp>
        <p:nvSpPr>
          <p:cNvPr id="94" name="Shape 77"/>
          <p:cNvSpPr/>
          <p:nvPr/>
        </p:nvSpPr>
        <p:spPr>
          <a:xfrm>
            <a:off x="0" y="4828032"/>
            <a:ext cx="2743200" cy="3154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5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" y="4860036"/>
            <a:ext cx="256032" cy="228600"/>
          </a:xfrm>
          <a:prstGeom prst="rect">
            <a:avLst/>
          </a:prstGeom>
        </p:spPr>
      </p:pic>
      <p:sp>
        <p:nvSpPr>
          <p:cNvPr id="96" name="Text 78"/>
          <p:cNvSpPr/>
          <p:nvPr/>
        </p:nvSpPr>
        <p:spPr>
          <a:xfrm>
            <a:off x="457200" y="48371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Evaluation Time</a:t>
            </a:r>
            <a:endParaRPr lang="en-US" sz="850" dirty="0"/>
          </a:p>
        </p:txBody>
      </p:sp>
      <p:sp>
        <p:nvSpPr>
          <p:cNvPr id="97" name="Text 79"/>
          <p:cNvSpPr/>
          <p:nvPr/>
        </p:nvSpPr>
        <p:spPr>
          <a:xfrm>
            <a:off x="457200" y="499262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481.26 sec</a:t>
            </a:r>
            <a:endParaRPr lang="en-US" sz="1100" dirty="0"/>
          </a:p>
        </p:txBody>
      </p:sp>
      <p:sp>
        <p:nvSpPr>
          <p:cNvPr id="98" name="Shape 80"/>
          <p:cNvSpPr/>
          <p:nvPr/>
        </p:nvSpPr>
        <p:spPr>
          <a:xfrm>
            <a:off x="2834640" y="4828032"/>
            <a:ext cx="6053328" cy="315468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81"/>
          <p:cNvSpPr/>
          <p:nvPr/>
        </p:nvSpPr>
        <p:spPr>
          <a:xfrm>
            <a:off x="2971800" y="48371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850" dirty="0"/>
          </a:p>
        </p:txBody>
      </p:sp>
      <p:sp>
        <p:nvSpPr>
          <p:cNvPr id="100" name="Text 82"/>
          <p:cNvSpPr/>
          <p:nvPr/>
        </p:nvSpPr>
        <p:spPr>
          <a:xfrm>
            <a:off x="2971800" y="4992624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document retrieval effectiveness and perfect faithfulness, with room for improvement in correctness and edge cases.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548640" cy="54864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" y="1444752"/>
            <a:ext cx="0" cy="256032"/>
          </a:xfrm>
          <a:prstGeom prst="line">
            <a:avLst/>
          </a:prstGeom>
          <a:noFill/>
          <a:ln w="25400">
            <a:solidFill>
              <a:srgbClr val="00A8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82296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86868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 · Python env · uv · typing · standards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548640" cy="54864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00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" y="2249424"/>
            <a:ext cx="0" cy="256032"/>
          </a:xfrm>
          <a:prstGeom prst="line">
            <a:avLst/>
          </a:prstGeom>
          <a:noFill/>
          <a:ln w="25400">
            <a:solidFill>
              <a:srgbClr val="00A8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1627632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16733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Eng.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67335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EUR-Lex/EBA/ECB pipelines · Databricks · Delta Lake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505456"/>
            <a:ext cx="548640" cy="54864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" y="3054096"/>
            <a:ext cx="0" cy="256032"/>
          </a:xfrm>
          <a:prstGeom prst="line">
            <a:avLst/>
          </a:prstGeom>
          <a:noFill/>
          <a:ln w="25400">
            <a:solidFill>
              <a:srgbClr val="00A8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5840" y="2432304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24780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2478024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· embeddings · metadata enrichment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310128"/>
            <a:ext cx="548640" cy="54864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" y="3858768"/>
            <a:ext cx="0" cy="256032"/>
          </a:xfrm>
          <a:prstGeom prst="line">
            <a:avLst/>
          </a:prstGeom>
          <a:noFill/>
          <a:ln w="25400">
            <a:solidFill>
              <a:srgbClr val="00A8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3236976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32826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3282696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· hybrid retrieval · LangGraph workflows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548640" cy="54864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05840" y="4041648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3000" y="40873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Eval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0" y="4087368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compliance controls · evaluation · monitoring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tracked via shared task board · Regular sync meetings · Key decisions logged · One Project Coordinator per team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9875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8503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Quality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91840" y="85039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quality, architectural patterns, use of best practices, strong typing, testing coverage, and production-readiness of all implemented components.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636776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1A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81965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16824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Correctness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91840" y="1682496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separation of concerns across data, AI, retrieval, API, and governance layers; adherence to the Bronze/Silver/Gold Delta Lake pattern.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4688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6517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5146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Reliability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91840" y="251460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stability, Docker containerisation, retry/fault-tolerance mechanisms, secrets management, and monitoring instrumentation.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3300984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165A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48386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33467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Relevance &amp; Usability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291840" y="3346704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meaningfully addresses real EU compliance use cases; natural language queries return grounded, cited, actionable answers.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4133088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0D7A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431596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" y="41788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Completeness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91840" y="417880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covering ingestion, retrieval, RAG response, evaluation results, and architectural overview presented clearly by all team members.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Regulatory Compliance Assistant for EU Financial Institutions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GTGH | AI Knowledge Engineering with Data  ·  Code.Hub × Accenture  ·  June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3031112"/>
            <a:ext cx="1828800" cy="509451"/>
          </a:xfrm>
          <a:prstGeom prst="roundRect">
            <a:avLst>
              <a:gd name="adj" fmla="val 5000"/>
            </a:avLst>
          </a:prstGeom>
          <a:solidFill>
            <a:srgbClr val="0D2B5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3166436"/>
            <a:ext cx="1828800" cy="238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6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1432</Words>
  <Application>Microsoft Office PowerPoint</Application>
  <PresentationFormat>On-screen Show (16:9)</PresentationFormat>
  <Paragraphs>319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Regulatory Compliance Assistant</dc:title>
  <dc:subject>PptxGenJS Presentation</dc:subject>
  <dc:creator>PptxGenJS</dc:creator>
  <cp:lastModifiedBy>Kordopati, Vasiliki</cp:lastModifiedBy>
  <cp:revision>2</cp:revision>
  <dcterms:created xsi:type="dcterms:W3CDTF">2026-06-10T15:34:08Z</dcterms:created>
  <dcterms:modified xsi:type="dcterms:W3CDTF">2026-06-10T15:40:14Z</dcterms:modified>
</cp:coreProperties>
</file>